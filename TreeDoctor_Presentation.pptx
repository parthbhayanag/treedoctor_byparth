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5394960"/>
          </a:xfrm>
          <a:prstGeom prst="rect">
            <a:avLst/>
          </a:prstGeom>
          <a:solidFill>
            <a:srgbClr val="16221A"/>
          </a:solidFill>
          <a:ln w="19050">
            <a:solidFill>
              <a:srgbClr val="284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1188720"/>
            <a:ext cx="4572000" cy="347472"/>
          </a:xfrm>
          <a:prstGeom prst="rect">
            <a:avLst/>
          </a:prstGeom>
          <a:solidFill>
            <a:srgbClr val="0B3B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188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[AI-POWERED URBAN CANOPY HEALTH PLATFORM]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88720" y="16916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TreeDoctor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88720" y="2743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"Google Maps tells us where trees are. TreeDoctor tells us which ones need our help."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3832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early warning and clinical EHR platform combining Multimodal Vision AI (Gemini 2.5 Flash), longitudinal time-series health tracking, real-time microclimate telemetry, and automated municipal field dispatch.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4434840"/>
            <a:ext cx="3017520" cy="411480"/>
          </a:xfrm>
          <a:prstGeom prst="rect">
            <a:avLst/>
          </a:prstGeom>
          <a:solidFill>
            <a:srgbClr val="1D2E2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434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Vision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4434840"/>
            <a:ext cx="3017520" cy="411480"/>
          </a:xfrm>
          <a:prstGeom prst="rect">
            <a:avLst/>
          </a:prstGeom>
          <a:solidFill>
            <a:srgbClr val="1D2E2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4434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Trend Alerts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0" y="4434840"/>
            <a:ext cx="3017520" cy="411480"/>
          </a:xfrm>
          <a:prstGeom prst="rect">
            <a:avLst/>
          </a:prstGeom>
          <a:solidFill>
            <a:srgbClr val="1D2E2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4434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Telemetry Grid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88720" y="52578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Studio Hackathon Final Submission  |  React 19 + Express + Gemini 2.5 Flash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solidFill>
            <a:srgbClr val="162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7: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Trees Are Dying in Plain Sight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invest millions planting trees, yet lose 30% prematurely due to a total lack of clinical health visibility.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10698480" cy="0"/>
          </a:xfrm>
          <a:prstGeom prst="line">
            <a:avLst/>
          </a:prstGeom>
          <a:noFill/>
          <a:ln w="12700">
            <a:solidFill>
              <a:srgbClr val="28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429000" cy="4114800"/>
          </a:xfrm>
          <a:prstGeom prst="rect">
            <a:avLst/>
          </a:prstGeom>
          <a:solidFill>
            <a:srgbClr val="1622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194560"/>
            <a:ext cx="2011680" cy="274320"/>
          </a:xfrm>
          <a:prstGeom prst="rect">
            <a:avLst/>
          </a:prstGeom>
          <a:solidFill>
            <a:srgbClr val="0D15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SPOT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&amp; Stale Inventories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registries are static spreadsheets or GIS pins updated only once every 5 to 7 years. Tree pathogens, drought stress, and root decay progress in weeks, rendering records obsolete.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429000" cy="4114800"/>
          </a:xfrm>
          <a:prstGeom prst="rect">
            <a:avLst/>
          </a:prstGeom>
          <a:solidFill>
            <a:srgbClr val="16221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194560"/>
            <a:ext cx="2011680" cy="274320"/>
          </a:xfrm>
          <a:prstGeom prst="rect">
            <a:avLst/>
          </a:prstGeom>
          <a:solidFill>
            <a:srgbClr val="0D15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DRAIN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17720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Reactive Cost Trap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338328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intervene only after a tree collapses on a street or power line. Safe removal and replanting costs over $3,000 per tree, vs. $45 for preventative treatment caught 60 days earlier.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1920240"/>
            <a:ext cx="3429000" cy="4114800"/>
          </a:xfrm>
          <a:prstGeom prst="rect">
            <a:avLst/>
          </a:prstGeom>
          <a:solidFill>
            <a:srgbClr val="16221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194560"/>
            <a:ext cx="2011680" cy="274320"/>
          </a:xfrm>
          <a:prstGeom prst="rect">
            <a:avLst/>
          </a:prstGeom>
          <a:solidFill>
            <a:srgbClr val="0D151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STRESS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0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Climate Multiplier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0" y="338328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heat islands (&gt;38C), asphalt root compaction, vapor pressure deficits, and PM2.5 pollution starve canopies before outward symptoms become obvious to the naked eye.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solidFill>
            <a:srgbClr val="162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7: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Static Inventory to Continuous Clinical Care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TreeDoctor transforms urban forestry into an automated Electronic Health Record (EHR) system.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10698480" cy="0"/>
          </a:xfrm>
          <a:prstGeom prst="line">
            <a:avLst/>
          </a:prstGeom>
          <a:noFill/>
          <a:ln w="12700">
            <a:solidFill>
              <a:srgbClr val="28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2560320" cy="4114800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AI Vision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342900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arborist pathology from field photos. Quantifies foliar necrosis, canopy thinning percentage, fungal conks, and pest boring holes with a clinical 0-100 score.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920240"/>
            <a:ext cx="2560320" cy="4114800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EHR &amp; Alerts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Intelligence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0" y="342900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historical health curves for each specimen. Automatically fires urgent alerts whenever a tree experiences an acute drop (&gt;10 health points) between scans.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2560320" cy="4114800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Microclimate Grounding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Zero-Mock Telemetry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55080" y="342900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Cross-checks visual decline against real-time ambient heat, 7-day rainfall deficits, relative humidity, and Copernicus AQI (PM2.5/PM10) at exact GPS coordinates.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23960" y="1920240"/>
            <a:ext cx="2560320" cy="4114800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5256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Field Dispatch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5256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Action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052560" y="342900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diagnoses into municipal work orders (deep-root irrigation, micro-injection, pruning) with full lifecycle tracking from Pending to Resolved.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solidFill>
            <a:srgbClr val="162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7: TARGET USERS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Stakeholders, Pain Points &amp; Value Delivered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public works departments, certified arborists, university campuses, and civic volunteers.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10698480" cy="0"/>
          </a:xfrm>
          <a:prstGeom prst="line">
            <a:avLst/>
          </a:prstGeom>
          <a:noFill/>
          <a:ln w="12700">
            <a:solidFill>
              <a:srgbClr val="28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10698480" cy="932688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03120"/>
            <a:ext cx="1280160" cy="237744"/>
          </a:xfrm>
          <a:prstGeom prst="rect">
            <a:avLst/>
          </a:prstGeom>
          <a:solidFill>
            <a:srgbClr val="0D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77440" y="207568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Parks &amp; Forestry Departments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40487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Point: Stretched field teams, emergency tree failures, slow manual audits, citizen complaint backlogs.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0" y="240487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 Real-time city canopy health map, early warning decline alerts, and prioritized automated field dispatch.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10698480" cy="932688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154680"/>
            <a:ext cx="1280160" cy="237744"/>
          </a:xfrm>
          <a:prstGeom prst="rect">
            <a:avLst/>
          </a:prstGeom>
          <a:solidFill>
            <a:srgbClr val="0D151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1546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77440" y="312724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Arborists &amp; Tree Contractors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4564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Point: Time-consuming manual paper assessments, difficult client reporting, lack of objective longitudinal records.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0" y="345643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 AI-assisted pathology scoring (0-100), digital audit trails, and photographic time-series comparison.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4069080"/>
            <a:ext cx="10698480" cy="932688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206240"/>
            <a:ext cx="1280160" cy="237744"/>
          </a:xfrm>
          <a:prstGeom prst="rect">
            <a:avLst/>
          </a:prstGeom>
          <a:solidFill>
            <a:srgbClr val="0D15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062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77440" y="417880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Campuses &amp; Botanical Gardens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5079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Point: High-value heritage specimens vulnerable to microclimate heat islands and localized pathogen outbreaks.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0" y="45079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 Micro-location weather telemetry cross-referencing rainfall deficits to automate preventative care.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5120640"/>
            <a:ext cx="10698480" cy="932688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5257800"/>
            <a:ext cx="1280160" cy="237744"/>
          </a:xfrm>
          <a:prstGeom prst="rect">
            <a:avLst/>
          </a:prstGeom>
          <a:solidFill>
            <a:srgbClr val="0D15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2578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377440" y="523036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 Volunteers &amp; Citizen Stewards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555955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Point: Want to protect local neighborhood trees but lack botanical expertise and direct reporting lines to city hall.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43600" y="555955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 Zero-friction camera scanner, instant AI diagnosis, and one-tap community reporting into the city queue.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solidFill>
            <a:srgbClr val="162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7: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Full-Stack &amp; Multimodal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server-side AI execution, zero-mock atmospheric telemetry, and high-performance geospatial UI.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10698480" cy="0"/>
          </a:xfrm>
          <a:prstGeom prst="line">
            <a:avLst/>
          </a:prstGeom>
          <a:noFill/>
          <a:ln w="12700">
            <a:solidFill>
              <a:srgbClr val="28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3383280" cy="4023360"/>
          </a:xfrm>
          <a:prstGeom prst="rect">
            <a:avLst/>
          </a:prstGeom>
          <a:solidFill>
            <a:srgbClr val="1622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194560"/>
            <a:ext cx="2194560" cy="256032"/>
          </a:xfrm>
          <a:prstGeom prst="rect">
            <a:avLst/>
          </a:prstGeom>
          <a:solidFill>
            <a:srgbClr val="0D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94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VISION LAYER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DeepMind Gemini 2.5 Flash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Multimodal vision analysis of leaves, bark, and canopy structure.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90448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Pathology identification: foliar chlorosis, anthracnose, bracket fungi, borers.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56285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Structured clinical JSON response: 0-100 score, urgency &amp; treatment steps.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5221224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Strict server-side isolation: API keys never exposed to client browser.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965960"/>
            <a:ext cx="3383280" cy="4023360"/>
          </a:xfrm>
          <a:prstGeom prst="rect">
            <a:avLst/>
          </a:prstGeom>
          <a:solidFill>
            <a:srgbClr val="16221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194560"/>
            <a:ext cx="2194560" cy="256032"/>
          </a:xfrm>
          <a:prstGeom prst="rect">
            <a:avLst/>
          </a:prstGeom>
          <a:solidFill>
            <a:srgbClr val="0D151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194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TELEMETRY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3440" y="2606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&amp; Copernicus Grid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63440" y="324612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Zero-mock live telemetry grounded to exact tree GPS coordinates.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90448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Ambient temperature and 7-day cumulative rainfall deficit analysis.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456285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Relative humidity &amp; Vapor Pressure Deficit (VPD) evaluation.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5221224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Copernicus Air Quality Index (AQI) with PM2.5 &amp; PM10 particulate levels.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0" y="1965960"/>
            <a:ext cx="3383280" cy="4023360"/>
          </a:xfrm>
          <a:prstGeom prst="rect">
            <a:avLst/>
          </a:prstGeom>
          <a:solidFill>
            <a:srgbClr val="1622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194560"/>
            <a:ext cx="2194560" cy="256032"/>
          </a:xfrm>
          <a:prstGeom prst="rect">
            <a:avLst/>
          </a:prstGeom>
          <a:solidFill>
            <a:srgbClr val="0D15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2194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SERVER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21040" y="2606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Express + Leaflet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21040" y="324612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Zero-typing tree registration with interactive Leaflet map pinning.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390448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- 3 base map modes: Dark Canvas, Satellite Imagery, Topographic Terrain.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456285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Longitudinal SVG charts with decline detection threshold (&gt;10 pts).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5221224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Node.js Express bundled via esbuild into single CommonJS artifact.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solidFill>
            <a:srgbClr val="162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7: MARKET &amp; ROI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$5.8B Opportunity &amp; Quantifiable Municipal ROI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public funds, reducing infrastructure hazard liability, and protecting mature carbon assets.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10698480" cy="0"/>
          </a:xfrm>
          <a:prstGeom prst="line">
            <a:avLst/>
          </a:prstGeom>
          <a:noFill/>
          <a:ln w="12700">
            <a:solidFill>
              <a:srgbClr val="28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4389120" cy="4023360"/>
          </a:xfrm>
          <a:prstGeom prst="rect">
            <a:avLst/>
          </a:prstGeom>
          <a:solidFill>
            <a:srgbClr val="1622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MUNICIPAL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$250,000+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 per 100 rescued trees vs. removal and replanting.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Drop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sapling mortality via early microclimate intervention.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70x Carbon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617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trees store up to 70x more carbon than newly planted saplings.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5029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$5.8 Billion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5440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Smart City Urban Greening &amp; Tree Inventory Market by 2030.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94960" y="1965960"/>
            <a:ext cx="6035040" cy="1234440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B2G Municipal SaaS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784080" y="2103120"/>
            <a:ext cx="1463040" cy="256032"/>
          </a:xfrm>
          <a:prstGeom prst="rect">
            <a:avLst/>
          </a:prstGeom>
          <a:solidFill>
            <a:srgbClr val="0D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0" y="21031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REVENUE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23560" y="246888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tier subscription for city parks and forestry departments ($15k-$80k/year based on tree volume &amp; crew dispatch seats).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3337560"/>
            <a:ext cx="6035040" cy="1234440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Campus Licensing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784080" y="3474720"/>
            <a:ext cx="1463040" cy="256032"/>
          </a:xfrm>
          <a:prstGeom prst="rect">
            <a:avLst/>
          </a:prstGeom>
          <a:solidFill>
            <a:srgbClr val="0D151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0" y="3474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MARGIN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623560" y="384048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monitoring for universities, corporate headquarters, golf resorts, and botanical arboretums.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4709160"/>
            <a:ext cx="6035040" cy="1234440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4846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&amp; ESG Carbon Verification API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784080" y="4846320"/>
            <a:ext cx="1463040" cy="256032"/>
          </a:xfrm>
          <a:prstGeom prst="rect">
            <a:avLst/>
          </a:prstGeom>
          <a:solidFill>
            <a:srgbClr val="0D15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0" y="4846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MONETIZATION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23560" y="521208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data feeds for municipal property insurers and verified canopy health telemetry for urban carbon credit platforms.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solidFill>
            <a:srgbClr val="162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7: SCALABILITY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Architected to Expand from Single Parks to Millions of Trees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High-throughput geospatial indexing, edge diagnostics, and seamless GIS software interoperability.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10698480" cy="0"/>
          </a:xfrm>
          <a:prstGeom prst="line">
            <a:avLst/>
          </a:prstGeom>
          <a:noFill/>
          <a:ln w="12700">
            <a:solidFill>
              <a:srgbClr val="28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5212080" cy="1874520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148840"/>
            <a:ext cx="3200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13055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Partitioning &amp; Quadtree Clustering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viewport-bounded queries and spatial index clustering ensure sub-second map rendering even with hundreds of thousands of specimens across metropolitan zones.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212080" cy="1874520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148840"/>
            <a:ext cx="320040" cy="320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213055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Diagnostic Pipeline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6517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image compression and queue workers prevent bottlenecks during city-wide citizen audit campaigns, maintaining rapid responses under high load.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5212080" cy="1874520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20624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418795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Interoperable Forestry Standards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7091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schemas align with USDA Forest Service &amp; ISA arboricultural standards, enabling two-way sync with legacy tools like Esri ArcGIS and TreePlotter.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212080" cy="1874520"/>
          </a:xfrm>
          <a:prstGeom prst="rect">
            <a:avLst/>
          </a:prstGeom>
          <a:solidFill>
            <a:srgbClr val="16221A"/>
          </a:solidFill>
          <a:ln w="12700">
            <a:solidFill>
              <a:srgbClr val="2840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206240"/>
            <a:ext cx="3200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18795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Crowdsourced Force Multiplier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7091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turning every smartphone into an arborist scanner, city inspection bandwidth multiplies by 100x without increasing public municipal headcount.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solidFill>
            <a:srgbClr val="162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7: NEXT HORIZON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Build Next with More Time and Resources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NDVI remote sensing, on-device Gemini Nano, IoT ground sensors, and predictive epidemiology.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10698480" cy="0"/>
          </a:xfrm>
          <a:prstGeom prst="line">
            <a:avLst/>
          </a:prstGeom>
          <a:noFill/>
          <a:ln w="12700">
            <a:solidFill>
              <a:srgbClr val="28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2560320" cy="4023360"/>
          </a:xfrm>
          <a:prstGeom prst="rect">
            <a:avLst/>
          </a:prstGeom>
          <a:solidFill>
            <a:srgbClr val="1622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1463040" cy="237744"/>
          </a:xfrm>
          <a:prstGeom prst="rect">
            <a:avLst/>
          </a:prstGeom>
          <a:solidFill>
            <a:srgbClr val="0D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488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0120" y="2514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NDVI Remote Sensing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&amp; Planet Labs Ingestion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352044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 canopy moisture stress and chlorophyll reduction from orbit using Normalized Difference Vegetation Index (NDVI) before field teams even deploy.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965960"/>
            <a:ext cx="2560320" cy="4023360"/>
          </a:xfrm>
          <a:prstGeom prst="rect">
            <a:avLst/>
          </a:prstGeom>
          <a:solidFill>
            <a:srgbClr val="16221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2148840"/>
            <a:ext cx="1463040" cy="237744"/>
          </a:xfrm>
          <a:prstGeom prst="rect">
            <a:avLst/>
          </a:prstGeom>
          <a:solidFill>
            <a:srgbClr val="0D151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1488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0" y="2514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Mobile PWA + Nano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Zero-Connectivity Wilderness Mode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352044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on-device Gemini Nano / quantized edge vision models directly onto park ranger devices for zero-reception national parks and nature reserves.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965960"/>
            <a:ext cx="2560320" cy="4023360"/>
          </a:xfrm>
          <a:prstGeom prst="rect">
            <a:avLst/>
          </a:prstGeom>
          <a:solidFill>
            <a:srgbClr val="1622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148840"/>
            <a:ext cx="1463040" cy="237744"/>
          </a:xfrm>
          <a:prstGeom prst="rect">
            <a:avLst/>
          </a:prstGeom>
          <a:solidFill>
            <a:srgbClr val="0D15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1488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55080" y="2514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Soil Moisture &amp; Sap Flow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5508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LoRaWAN Smart Irrigation Loop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352044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Sub-surface ground sensor probes that trigger automated municipal drip valves when soil water tension drops below species-specific wilting points.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23960" y="1965960"/>
            <a:ext cx="2560320" cy="4023360"/>
          </a:xfrm>
          <a:prstGeom prst="rect">
            <a:avLst/>
          </a:prstGeom>
          <a:solidFill>
            <a:srgbClr val="16221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52560" y="2148840"/>
            <a:ext cx="1463040" cy="237744"/>
          </a:xfrm>
          <a:prstGeom prst="rect">
            <a:avLst/>
          </a:prstGeom>
          <a:solidFill>
            <a:srgbClr val="0D15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21488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052560" y="2514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Pest Spread Models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05256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Epidemiological Vector Simulation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52560" y="352044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forecasting of pathogen spread trajectories (e.g. Emerald Ash Borer) by cross-referencing wind corridors and tree species density.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TreeDoctor Urban Forestry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TreeDoctor - AI Urban Tree Health Platform</dc:title>
  <dc:subject>Hackathon Final Pitch Deck</dc:subject>
  <dc:creator>TreeDoctor Team</dc:creator>
  <cp:lastModifiedBy>TreeDoctor Team</cp:lastModifiedBy>
  <cp:revision>1</cp:revision>
  <dcterms:created xsi:type="dcterms:W3CDTF">2026-09-20T08:46:09Z</dcterms:created>
  <dcterms:modified xsi:type="dcterms:W3CDTF">2026-09-20T08:46:09Z</dcterms:modified>
</cp:coreProperties>
</file>